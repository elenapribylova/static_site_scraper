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79" y="2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2928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9732" y="1630710"/>
            <a:ext cx="4284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Aft>
                <a:spcPts val="1500"/>
              </a:spcAft>
              <a:buNone/>
            </a:pPr>
            <a:r>
              <a:rPr lang="en-US" sz="5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цен glavsnab.net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674291" y="3192810"/>
            <a:ext cx="37952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Парсинг и статистика товаров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3895916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spcAft>
                <a:spcPts val="2250"/>
              </a:spcAft>
              <a:buNone/>
            </a:pPr>
            <a:r>
              <a:rPr lang="en-US" sz="3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проекте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2031950"/>
            <a:ext cx="7620000" cy="1917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33"/>
              </a:lnSpc>
              <a:buSzPct val="100000"/>
              <a:buChar char="•"/>
            </a:pPr>
            <a:r>
              <a:rPr lang="en-US" sz="19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Парсинг категории товаров с glavsnab.net</a:t>
            </a:r>
            <a:endParaRPr lang="en-US" sz="1950" dirty="0"/>
          </a:p>
          <a:p>
            <a:pPr marL="342900" indent="-342900" algn="l">
              <a:lnSpc>
                <a:spcPts val="3033"/>
              </a:lnSpc>
              <a:buSzPct val="100000"/>
              <a:buChar char="•"/>
            </a:pPr>
            <a:r>
              <a:rPr lang="en-US" sz="19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Статистический анализ цен</a:t>
            </a:r>
            <a:endParaRPr lang="en-US" sz="1950" dirty="0"/>
          </a:p>
          <a:p>
            <a:pPr marL="342900" indent="-342900" algn="l">
              <a:lnSpc>
                <a:spcPts val="3033"/>
              </a:lnSpc>
              <a:buSzPct val="100000"/>
              <a:buChar char="•"/>
            </a:pPr>
            <a:r>
              <a:rPr lang="en-US" sz="19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аномалий и трендов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5236655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spcAft>
                <a:spcPts val="2250"/>
              </a:spcAft>
              <a:buNone/>
            </a:pPr>
            <a:r>
              <a:rPr lang="en-US" sz="3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Математическая часть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2031950"/>
            <a:ext cx="7620000" cy="2569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33"/>
              </a:lnSpc>
              <a:buSzPct val="100000"/>
              <a:buChar char="•"/>
            </a:pPr>
            <a:r>
              <a:rPr lang="en-US" sz="19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Описательная статистика (μ, σ, медиана)</a:t>
            </a:r>
            <a:endParaRPr lang="en-US" sz="1950" dirty="0"/>
          </a:p>
          <a:p>
            <a:pPr marL="342900" indent="-342900" algn="l">
              <a:lnSpc>
                <a:spcPts val="3033"/>
              </a:lnSpc>
              <a:buSzPct val="100000"/>
              <a:buChar char="•"/>
            </a:pPr>
            <a:r>
              <a:rPr lang="en-US" sz="19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Детекция аномалий методом IQR</a:t>
            </a:r>
            <a:endParaRPr lang="en-US" sz="1950" dirty="0"/>
          </a:p>
          <a:p>
            <a:pPr marL="342900" indent="-342900" algn="l">
              <a:lnSpc>
                <a:spcPts val="3033"/>
              </a:lnSpc>
              <a:buSzPct val="100000"/>
              <a:buChar char="•"/>
            </a:pPr>
            <a:r>
              <a:rPr lang="en-US" sz="19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Частотный анализ текста</a:t>
            </a:r>
            <a:endParaRPr lang="en-US" sz="1950" dirty="0"/>
          </a:p>
          <a:p>
            <a:pPr marL="342900" indent="-342900" algn="l">
              <a:lnSpc>
                <a:spcPts val="3033"/>
              </a:lnSpc>
              <a:buSzPct val="100000"/>
              <a:buChar char="•"/>
            </a:pPr>
            <a:r>
              <a:rPr lang="en-US" sz="19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 распределения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3895916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spcAft>
                <a:spcPts val="2250"/>
              </a:spcAft>
              <a:buNone/>
            </a:pPr>
            <a:r>
              <a:rPr lang="en-US" sz="3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 цен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650950"/>
            <a:ext cx="2381250" cy="1241822"/>
          </a:xfrm>
          <a:prstGeom prst="roundRect">
            <a:avLst>
              <a:gd name="adj" fmla="val 6136"/>
            </a:avLst>
          </a:prstGeom>
          <a:solidFill>
            <a:srgbClr val="ED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83920" y="1793825"/>
            <a:ext cx="213741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83920" y="2509986"/>
            <a:ext cx="213741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товаров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381375" y="1650950"/>
            <a:ext cx="2381250" cy="1241822"/>
          </a:xfrm>
          <a:prstGeom prst="roundRect">
            <a:avLst>
              <a:gd name="adj" fmla="val 6136"/>
            </a:avLst>
          </a:prstGeom>
          <a:solidFill>
            <a:srgbClr val="ED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03295" y="1793825"/>
            <a:ext cx="213741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868₽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503295" y="2509986"/>
            <a:ext cx="213741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00750" y="1650950"/>
            <a:ext cx="2381250" cy="1241822"/>
          </a:xfrm>
          <a:prstGeom prst="roundRect">
            <a:avLst>
              <a:gd name="adj" fmla="val 6136"/>
            </a:avLst>
          </a:prstGeom>
          <a:solidFill>
            <a:srgbClr val="ED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22670" y="1793825"/>
            <a:ext cx="213741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329₽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122670" y="2509986"/>
            <a:ext cx="213741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медиана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2000" y="3130897"/>
            <a:ext cx="2381250" cy="1241822"/>
          </a:xfrm>
          <a:prstGeom prst="roundRect">
            <a:avLst>
              <a:gd name="adj" fmla="val 6136"/>
            </a:avLst>
          </a:prstGeom>
          <a:solidFill>
            <a:srgbClr val="ED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3920" y="3273772"/>
            <a:ext cx="213741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3₽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83920" y="3989933"/>
            <a:ext cx="213741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81375" y="3130897"/>
            <a:ext cx="2381250" cy="1241822"/>
          </a:xfrm>
          <a:prstGeom prst="roundRect">
            <a:avLst>
              <a:gd name="adj" fmla="val 6136"/>
            </a:avLst>
          </a:prstGeom>
          <a:solidFill>
            <a:srgbClr val="ED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03295" y="3273772"/>
            <a:ext cx="213741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23550₽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503295" y="3989933"/>
            <a:ext cx="213741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максимум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00750" y="3130897"/>
            <a:ext cx="2381250" cy="1241822"/>
          </a:xfrm>
          <a:prstGeom prst="roundRect">
            <a:avLst>
              <a:gd name="adj" fmla="val 6136"/>
            </a:avLst>
          </a:prstGeom>
          <a:solidFill>
            <a:srgbClr val="ED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22670" y="3273772"/>
            <a:ext cx="213741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1663₽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122670" y="3989933"/>
            <a:ext cx="213741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откл.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4546854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spcAft>
                <a:spcPts val="2250"/>
              </a:spcAft>
              <a:buNone/>
            </a:pPr>
            <a:r>
              <a:rPr lang="en-US" sz="3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цен</a:t>
            </a:r>
            <a:endParaRPr lang="en-US" sz="3600" dirty="0"/>
          </a:p>
        </p:txBody>
      </p:sp>
      <p:pic>
        <p:nvPicPr>
          <p:cNvPr id="3" name="Image 0" descr="/home/claude/pric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25" y="1650950"/>
            <a:ext cx="5556200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3895916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spcAft>
                <a:spcPts val="2250"/>
              </a:spcAft>
              <a:buNone/>
            </a:pPr>
            <a:r>
              <a:rPr lang="en-US" sz="3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Аномалии цен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936700"/>
            <a:ext cx="3690937" cy="1241822"/>
          </a:xfrm>
          <a:prstGeom prst="roundRect">
            <a:avLst>
              <a:gd name="adj" fmla="val 6136"/>
            </a:avLst>
          </a:prstGeom>
          <a:solidFill>
            <a:srgbClr val="ED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70823" y="2079575"/>
            <a:ext cx="347329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70823" y="2795736"/>
            <a:ext cx="347329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низких цен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91063" y="1936700"/>
            <a:ext cx="3690937" cy="1241822"/>
          </a:xfrm>
          <a:prstGeom prst="roundRect">
            <a:avLst>
              <a:gd name="adj" fmla="val 6136"/>
            </a:avLst>
          </a:prstGeom>
          <a:solidFill>
            <a:srgbClr val="EDF2F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99886" y="2079575"/>
            <a:ext cx="347329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799886" y="2795736"/>
            <a:ext cx="347329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высоких цен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692872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товаров имеют аномально высокие цены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4284536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spcAft>
                <a:spcPts val="2250"/>
              </a:spcAft>
              <a:buNone/>
            </a:pPr>
            <a:r>
              <a:rPr lang="en-US" sz="3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Частотный анализ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2031950"/>
            <a:ext cx="7620000" cy="1917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33"/>
              </a:lnSpc>
              <a:buSzPct val="100000"/>
              <a:buChar char="•"/>
            </a:pPr>
            <a:r>
              <a:rPr lang="en-US" sz="19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лента — 374</a:t>
            </a:r>
            <a:endParaRPr lang="en-US" sz="1950" dirty="0"/>
          </a:p>
          <a:p>
            <a:pPr marL="342900" indent="-342900" algn="l">
              <a:lnSpc>
                <a:spcPts val="3033"/>
              </a:lnSpc>
              <a:buSzPct val="100000"/>
              <a:buChar char="•"/>
            </a:pPr>
            <a:r>
              <a:rPr lang="en-US" sz="19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изолента — 196</a:t>
            </a:r>
            <a:endParaRPr lang="en-US" sz="1950" dirty="0"/>
          </a:p>
          <a:p>
            <a:pPr marL="342900" indent="-342900" algn="l">
              <a:lnSpc>
                <a:spcPts val="3033"/>
              </a:lnSpc>
              <a:buSzPct val="100000"/>
              <a:buChar char="•"/>
            </a:pPr>
            <a:r>
              <a:rPr lang="en-US" sz="19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пвх — 160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3895916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spcAft>
                <a:spcPts val="2250"/>
              </a:spcAft>
              <a:buNone/>
            </a:pPr>
            <a:r>
              <a:rPr lang="en-US" sz="3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2031950"/>
            <a:ext cx="7620000" cy="2569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33"/>
              </a:lnSpc>
              <a:buSzPct val="100000"/>
              <a:buChar char="•"/>
            </a:pPr>
            <a:r>
              <a:rPr lang="en-US" sz="19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Собрано 1131 товар</a:t>
            </a:r>
            <a:endParaRPr lang="en-US" sz="1950" dirty="0"/>
          </a:p>
          <a:p>
            <a:pPr marL="342900" indent="-342900" algn="l">
              <a:lnSpc>
                <a:spcPts val="3033"/>
              </a:lnSpc>
              <a:buSzPct val="100000"/>
              <a:buChar char="•"/>
            </a:pPr>
            <a:r>
              <a:rPr lang="en-US" sz="19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Выявлено 137 аномалий (12%)</a:t>
            </a:r>
            <a:endParaRPr lang="en-US" sz="1950" dirty="0"/>
          </a:p>
          <a:p>
            <a:pPr marL="342900" indent="-342900" algn="l">
              <a:lnSpc>
                <a:spcPts val="3033"/>
              </a:lnSpc>
              <a:buSzPct val="100000"/>
              <a:buChar char="•"/>
            </a:pPr>
            <a:r>
              <a:rPr lang="en-US" sz="19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Доминируют ленты и изоматериалы</a:t>
            </a:r>
            <a:endParaRPr lang="en-US" sz="1950" dirty="0"/>
          </a:p>
          <a:p>
            <a:pPr marL="342900" indent="-342900" algn="l">
              <a:lnSpc>
                <a:spcPts val="3033"/>
              </a:lnSpc>
              <a:buSzPct val="100000"/>
              <a:buChar char="•"/>
            </a:pPr>
            <a:r>
              <a:rPr lang="en-US" sz="195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Разброс: 3₽ — 23550₽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</Words>
  <Application>Microsoft Office PowerPoint</Application>
  <PresentationFormat>Экран (16:9)</PresentationFormat>
  <Paragraphs>48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Павел Чаплыгин</cp:lastModifiedBy>
  <cp:revision>1</cp:revision>
  <dcterms:created xsi:type="dcterms:W3CDTF">2026-01-10T12:49:06Z</dcterms:created>
  <dcterms:modified xsi:type="dcterms:W3CDTF">2026-01-10T12:56:22Z</dcterms:modified>
</cp:coreProperties>
</file>